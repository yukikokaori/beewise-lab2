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e911d36d8342bd" /><Relationship Type="http://schemas.openxmlformats.org/officeDocument/2006/relationships/extended-properties" Target="/docProps/app.xml" Id="Rc7958946b8e24152" /><Relationship Type="http://schemas.openxmlformats.org/officeDocument/2006/relationships/officeDocument" Target="/ppt/presentation.xml" Id="R6ffc16f186da44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5ee656df67410a"/>
  </p:sldMasterIdLst>
  <p:notesMasterIdLst>
    <p:notesMasterId xmlns:r="http://schemas.openxmlformats.org/officeDocument/2006/relationships" r:id="Rbc5a57a1425d4da1"/>
  </p:notesMasterIdLst>
  <p:sldIdLst>
    <p:sldId xmlns:r="http://schemas.openxmlformats.org/officeDocument/2006/relationships" id="256" r:id="R9de9a177059645ff"/>
    <p:sldId xmlns:r="http://schemas.openxmlformats.org/officeDocument/2006/relationships" id="257" r:id="R7710deb5d4a84887"/>
    <p:sldId xmlns:r="http://schemas.openxmlformats.org/officeDocument/2006/relationships" id="258" r:id="R057d963c0e884a77"/>
    <p:sldId xmlns:r="http://schemas.openxmlformats.org/officeDocument/2006/relationships" id="259" r:id="Rc9d9c22d0a27461d"/>
    <p:sldId xmlns:r="http://schemas.openxmlformats.org/officeDocument/2006/relationships" id="260" r:id="Rd7695017477146d1"/>
    <p:sldId xmlns:r="http://schemas.openxmlformats.org/officeDocument/2006/relationships" id="261" r:id="R009794a0251d4d83"/>
    <p:sldId xmlns:r="http://schemas.openxmlformats.org/officeDocument/2006/relationships" id="262" r:id="R6da5c892622f47bc"/>
    <p:sldId xmlns:r="http://schemas.openxmlformats.org/officeDocument/2006/relationships" id="263" r:id="R27c3a0be3c184f35"/>
    <p:sldId xmlns:r="http://schemas.openxmlformats.org/officeDocument/2006/relationships" id="264" r:id="R41b48094b24f43c8"/>
    <p:sldId xmlns:r="http://schemas.openxmlformats.org/officeDocument/2006/relationships" id="265" r:id="Rc70372707ce64605"/>
    <p:sldId xmlns:r="http://schemas.openxmlformats.org/officeDocument/2006/relationships" id="266" r:id="R27d4cb4104d446a9"/>
    <p:sldId xmlns:r="http://schemas.openxmlformats.org/officeDocument/2006/relationships" id="267" r:id="R7e1d2403e7894b1b"/>
    <p:sldId xmlns:r="http://schemas.openxmlformats.org/officeDocument/2006/relationships" id="268" r:id="R43ea856f86e346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10aca7f3044f38" /><Relationship Type="http://schemas.openxmlformats.org/officeDocument/2006/relationships/slideMaster" Target="/ppt/slideMasters/slideMaster1.xml" Id="R255ee656df67410a" /><Relationship Type="http://schemas.openxmlformats.org/officeDocument/2006/relationships/notesMaster" Target="/ppt/notesMasters/notesMaster1.xml" Id="Rbc5a57a1425d4da1" /><Relationship Type="http://schemas.openxmlformats.org/officeDocument/2006/relationships/presProps" Target="/ppt/presProps.xml" Id="R80b2d78f1cb24748" /><Relationship Type="http://schemas.openxmlformats.org/officeDocument/2006/relationships/tableStyles" Target="/ppt/tableStyles.xml" Id="Rc61d2fe5423a46e9" /><Relationship Type="http://schemas.openxmlformats.org/officeDocument/2006/relationships/slide" Target="/ppt/slides/slide1.xml" Id="R9de9a177059645ff" /><Relationship Type="http://schemas.openxmlformats.org/officeDocument/2006/relationships/slide" Target="/ppt/slides/slide2.xml" Id="R7710deb5d4a84887" /><Relationship Type="http://schemas.openxmlformats.org/officeDocument/2006/relationships/slide" Target="/ppt/slides/slide3.xml" Id="R057d963c0e884a77" /><Relationship Type="http://schemas.openxmlformats.org/officeDocument/2006/relationships/slide" Target="/ppt/slides/slide4.xml" Id="Rc9d9c22d0a27461d" /><Relationship Type="http://schemas.openxmlformats.org/officeDocument/2006/relationships/slide" Target="/ppt/slides/slide5.xml" Id="Rd7695017477146d1" /><Relationship Type="http://schemas.openxmlformats.org/officeDocument/2006/relationships/slide" Target="/ppt/slides/slide6.xml" Id="R009794a0251d4d83" /><Relationship Type="http://schemas.openxmlformats.org/officeDocument/2006/relationships/slide" Target="/ppt/slides/slide7.xml" Id="R6da5c892622f47bc" /><Relationship Type="http://schemas.openxmlformats.org/officeDocument/2006/relationships/slide" Target="/ppt/slides/slide8.xml" Id="R27c3a0be3c184f35" /><Relationship Type="http://schemas.openxmlformats.org/officeDocument/2006/relationships/slide" Target="/ppt/slides/slide9.xml" Id="R41b48094b24f43c8" /><Relationship Type="http://schemas.openxmlformats.org/officeDocument/2006/relationships/slide" Target="/ppt/slides/slide10.xml" Id="Rc70372707ce64605" /><Relationship Type="http://schemas.openxmlformats.org/officeDocument/2006/relationships/slide" Target="/ppt/slides/slide11.xml" Id="R27d4cb4104d446a9" /><Relationship Type="http://schemas.openxmlformats.org/officeDocument/2006/relationships/slide" Target="/ppt/slides/slide12.xml" Id="R7e1d2403e7894b1b" /><Relationship Type="http://schemas.openxmlformats.org/officeDocument/2006/relationships/slide" Target="/ppt/slides/slide13.xml" Id="R43ea856f86e346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8fc07bcccb47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50ce4ea66c405d" /><Relationship Type="http://schemas.openxmlformats.org/officeDocument/2006/relationships/notesMaster" Target="/ppt/notesMasters/notesMaster1.xml" Id="R406eb4a70cb142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aeaa9517c54aab" /><Relationship Type="http://schemas.openxmlformats.org/officeDocument/2006/relationships/notesMaster" Target="/ppt/notesMasters/notesMaster1.xml" Id="R9264a071e3c640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f55d54447446bc" /><Relationship Type="http://schemas.openxmlformats.org/officeDocument/2006/relationships/notesMaster" Target="/ppt/notesMasters/notesMaster1.xml" Id="R50e34ae9d09f47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fa1bd58b344e5e" /><Relationship Type="http://schemas.openxmlformats.org/officeDocument/2006/relationships/notesMaster" Target="/ppt/notesMasters/notesMaster1.xml" Id="R94b3394084854d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e1b1ae2975438f" /><Relationship Type="http://schemas.openxmlformats.org/officeDocument/2006/relationships/notesMaster" Target="/ppt/notesMasters/notesMaster1.xml" Id="Rbbe43048ebcf44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bae830919246e5" /><Relationship Type="http://schemas.openxmlformats.org/officeDocument/2006/relationships/notesMaster" Target="/ppt/notesMasters/notesMaster1.xml" Id="R229c0256fde84e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d233e111214ba3" /><Relationship Type="http://schemas.openxmlformats.org/officeDocument/2006/relationships/notesMaster" Target="/ppt/notesMasters/notesMaster1.xml" Id="Ree2812ac421d4a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5f2538143b4dbc" /><Relationship Type="http://schemas.openxmlformats.org/officeDocument/2006/relationships/notesMaster" Target="/ppt/notesMasters/notesMaster1.xml" Id="R14bc7ae43c0141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75316b50404544" /><Relationship Type="http://schemas.openxmlformats.org/officeDocument/2006/relationships/notesMaster" Target="/ppt/notesMasters/notesMaster1.xml" Id="Ra7565dd33eff42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512f01c5a446b2" /><Relationship Type="http://schemas.openxmlformats.org/officeDocument/2006/relationships/notesMaster" Target="/ppt/notesMasters/notesMaster1.xml" Id="Rbf59939bce8d42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625f9e5f854777" /><Relationship Type="http://schemas.openxmlformats.org/officeDocument/2006/relationships/notesMaster" Target="/ppt/notesMasters/notesMaster1.xml" Id="R19fafa9be92e48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1ed4d267ed43e7" /><Relationship Type="http://schemas.openxmlformats.org/officeDocument/2006/relationships/notesMaster" Target="/ppt/notesMasters/notesMaster1.xml" Id="Re1a09b5a70a746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3b553fb96443cb" /><Relationship Type="http://schemas.openxmlformats.org/officeDocument/2006/relationships/notesMaster" Target="/ppt/notesMasters/notesMaster1.xml" Id="R5821ebe7bec443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6a0680044d49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2a0a772254eb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2f96df84494d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4c62893f754d6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2e7660f8d44b8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73e9776ade4f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88E20D-60A6-4AA1-842A-0137DB47E2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C95217-88EA-4D2F-9BB3-B9974A6F46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D41867E-6669-40C6-941F-B0A0A7634E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ED4FD7-521C-4425-A1A3-FAB95531A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A57797-551D-4304-83E8-85CD62CFDA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1B9CFDA-5AA5-447E-81CF-840ECF34C4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1D1F4F-EC95-4544-A825-104E56A60C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BFAA6E2-0434-40EF-8C9B-8D7DDD5618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66BC583-6CFE-48B3-A95D-F9D33906C5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86CD20F-24F0-468E-99D0-8E46F22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44ae9bd52843cd" /><Relationship Type="http://schemas.openxmlformats.org/officeDocument/2006/relationships/slideLayout" Target="/ppt/slideLayouts/slideLayout1.xml" Id="R5f1b234927ac4a69" /><Relationship Type="http://schemas.openxmlformats.org/officeDocument/2006/relationships/slideLayout" Target="/ppt/slideLayouts/slideLayout2.xml" Id="R0c36fdb55de4476c" /><Relationship Type="http://schemas.openxmlformats.org/officeDocument/2006/relationships/slideLayout" Target="/ppt/slideLayouts/slideLayout3.xml" Id="Re85eb06620844bd8" /><Relationship Type="http://schemas.openxmlformats.org/officeDocument/2006/relationships/slideLayout" Target="/ppt/slideLayouts/slideLayout4.xml" Id="Rcc72314faa2a4579" /><Relationship Type="http://schemas.openxmlformats.org/officeDocument/2006/relationships/slideLayout" Target="/ppt/slideLayouts/slideLayout5.xml" Id="R4a2c4774b33b4e20" /><Relationship Type="http://schemas.openxmlformats.org/officeDocument/2006/relationships/slideLayout" Target="/ppt/slideLayouts/slideLayout6.xml" Id="R8bbbe5061c9145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1b234927ac4a69"/>
    <p:sldLayoutId xmlns:r="http://schemas.openxmlformats.org/officeDocument/2006/relationships" id="2147483650" r:id="R0c36fdb55de4476c"/>
    <p:sldLayoutId xmlns:r="http://schemas.openxmlformats.org/officeDocument/2006/relationships" id="2147483651" r:id="Re85eb06620844bd8"/>
    <p:sldLayoutId xmlns:r="http://schemas.openxmlformats.org/officeDocument/2006/relationships" id="2147483652" r:id="Rcc72314faa2a4579"/>
    <p:sldLayoutId xmlns:r="http://schemas.openxmlformats.org/officeDocument/2006/relationships" id="2147483653" r:id="R4a2c4774b33b4e20"/>
    <p:sldLayoutId xmlns:r="http://schemas.openxmlformats.org/officeDocument/2006/relationships" id="2147483654" r:id="R8bbbe5061c9145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edff4e3c9c48b3" /><Relationship Type="http://schemas.openxmlformats.org/officeDocument/2006/relationships/notesSlide" Target="/ppt/notesSlides/notesSlide1.xml" Id="Rfe70a6c6eba145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15a9e8136c4d50" /><Relationship Type="http://schemas.openxmlformats.org/officeDocument/2006/relationships/notesSlide" Target="/ppt/notesSlides/notesSlide2.xml" Id="Rdac09737cef543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7a494001434655" /><Relationship Type="http://schemas.openxmlformats.org/officeDocument/2006/relationships/notesSlide" Target="/ppt/notesSlides/notesSlide3.xml" Id="R06483697e45245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1245adf1f64472" /><Relationship Type="http://schemas.openxmlformats.org/officeDocument/2006/relationships/notesSlide" Target="/ppt/notesSlides/notesSlide4.xml" Id="R91562314324149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a24e6aa0ce49c9" /><Relationship Type="http://schemas.openxmlformats.org/officeDocument/2006/relationships/notesSlide" Target="/ppt/notesSlides/notesSlide5.xml" Id="R849c67e06f6f40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25dddc750241b2" /><Relationship Type="http://schemas.openxmlformats.org/officeDocument/2006/relationships/notesSlide" Target="/ppt/notesSlides/notesSlide6.xml" Id="R7e9fd18771df4f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38198086240bf" /><Relationship Type="http://schemas.openxmlformats.org/officeDocument/2006/relationships/notesSlide" Target="/ppt/notesSlides/notesSlide7.xml" Id="Rd6d4f23ecc4044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773df53eec44f5" /><Relationship Type="http://schemas.openxmlformats.org/officeDocument/2006/relationships/notesSlide" Target="/ppt/notesSlides/notesSlide8.xml" Id="Ra37caba3d63e43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f417d27b1e43f0" /><Relationship Type="http://schemas.openxmlformats.org/officeDocument/2006/relationships/notesSlide" Target="/ppt/notesSlides/notesSlide9.xml" Id="Rd331a6a70f294a6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1850f939c84a66" /><Relationship Type="http://schemas.openxmlformats.org/officeDocument/2006/relationships/notesSlide" Target="/ppt/notesSlides/notesSlide10.xml" Id="R47755bfdaa9c42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b43c6e037d428b" /><Relationship Type="http://schemas.openxmlformats.org/officeDocument/2006/relationships/notesSlide" Target="/ppt/notesSlides/notesSlide11.xml" Id="Rd2ac860080dd4d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9dc70a75544852" /><Relationship Type="http://schemas.openxmlformats.org/officeDocument/2006/relationships/notesSlide" Target="/ppt/notesSlides/notesSlide12.xml" Id="R0221beb4de6348e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672cdc5ac64c6c" /><Relationship Type="http://schemas.openxmlformats.org/officeDocument/2006/relationships/notesSlide" Target="/ppt/notesSlides/notesSlide13.xml" Id="R65753494446743d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CD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CE785-D5D6-48C4-8AB7-1079A977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3B07C-FD5F-4FCD-9997-24F366AB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525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FFC5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C500"/>
                </a:solidFill>
                <a:latin typeface="Arial"/>
                <a:ea typeface="Arial"/>
                <a:cs typeface="Arial"/>
              </a:rPr>
              <a:t>BEEWISE - LAB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9E771-2FC1-470E-AF6B-44E33481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BeeWise | Lab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C49E3-B92B-47C6-A4DC-E1B24BF1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71800"/>
            <a:ext cx="14097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1D6726-2D8D-440A-B87F-98F3C2D0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>
                <a:solidFill>
                  <a:srgbClr val="FFFFFF"/>
                </a:solidFill>
                <a:latin typeface="Arial"/>
                <a:ea typeface="Arial"/>
                <a:cs typeface="Arial"/>
              </a:rPr>
              <a:t>Cloud-enabled mobile app - corrective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D28077-AB3B-40E2-8E82-5F43F60D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9715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5000"/>
              </a:lnSpc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Flutter + Riverpod and Firebase adapters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UID isolation and current-proposal security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8 Flutter tests; 26 emulator rules tests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FFFFFF"/>
                </a:solidFill>
                <a:latin typeface="Arial"/>
                <a:ea typeface="Arial"/>
                <a:cs typeface="Arial"/>
              </a:rPr>
              <a:t>DRAFT: runtime and cloud evidence remain open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022410-A35E-4C5F-98AC-53CB97F8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198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DCE8FF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DCE8FF"/>
                </a:solidFill>
                <a:latin typeface="Arial"/>
                <a:ea typeface="Arial"/>
                <a:cs typeface="Arial"/>
              </a:rPr>
              <a:t>Review draft | Runtime evidence is still pending</a:t>
            </a:r>
          </a:p>
        </p:txBody>
      </p:sp>
    </p:spTree>
    <p:extLst>
      <p:ext uri="{BB962C8B-B14F-4D97-AF65-F5344CB8AC3E}">
        <p14:creationId xmlns:p14="http://schemas.microsoft.com/office/powerpoint/2010/main" val="2863146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41CAA3-682C-4E38-A06F-0343D371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2E678-3409-4324-818A-5377A796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Product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71866-D223-4D6E-8AC3-402CA7F2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471D7-E728-4949-86BB-770F436A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A parent-facing app for finding a tutor and following a trusted learning journey.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19679-7643-4D5A-8410-01659503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Explore real active tutor profiles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Preserve tutor context through parent authentication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Coordinate through a trusted BeeWise consultant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Tutor applications stay private and pending review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Backend alone verifies payment and official schedule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DE368-350A-4B64-85EA-C8205504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F518E6-D549-46ED-A5F7-29D895BA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PRODUCT.md; handoff/flutter-handoff.md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49001-13DD-4DC6-826E-B1773DB9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02</a:t>
            </a:r>
          </a:p>
        </p:txBody>
      </p:sp>
    </p:spTree>
    <p:extLst>
      <p:ext uri="{BB962C8B-B14F-4D97-AF65-F5344CB8AC3E}">
        <p14:creationId xmlns:p14="http://schemas.microsoft.com/office/powerpoint/2010/main" val="7990832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7F43E-9559-4005-B303-67A0B5A3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93798-AA03-4973-8845-F09A67A7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Parent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78B63-1CF5-42FF-A7B1-8B650AFE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05D2B-3D81-4D29-96AA-36F933B5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The app preserves context and makes each next step understandable.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CBA3E-B6C5-481B-96AB-3F987C50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Discover: Home, Search or AI Matching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Evaluate: Tutor Profile shows evidence and fees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Connect: authentication gate preserves the selected tutor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Coordinate: group chat, trial proposal and class revision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Continue: official schedule appears only after backend verification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86C68-AF36-415B-9656-16D6F72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08201-6FB6-4B6E-AD00-3F7045B08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docs/design-traceability.md; docs/test-plan.md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EFD588-7AC5-4C5E-9E0B-DACFF5D2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03</a:t>
            </a:r>
          </a:p>
        </p:txBody>
      </p:sp>
    </p:spTree>
    <p:extLst>
      <p:ext uri="{BB962C8B-B14F-4D97-AF65-F5344CB8AC3E}">
        <p14:creationId xmlns:p14="http://schemas.microsoft.com/office/powerpoint/2010/main" val="9072542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28E931-016D-4F19-952F-03B9741D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ABB91-46E9-4DCB-B20B-7C9EBC1D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Application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4907B7-D010-4392-BA07-7BF6D06F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0FF6E-7D21-4FED-B7A0-B2E533E8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A layered Flutter client keeps interface state separate from cloud calls.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9A1CA-5D14-49ED-8EB5-0EA4EA2C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Flutter screens and reusable BeeWise components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Riverpod controllers manage loading, success and error state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Service and repository adapters isolate Firebase SDK calls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GoRouter maps app routes and preserves journey context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Firebase rules and trusted backend define write authority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BFA362-F3F7-4DD6-BECB-20709CC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551C38-BE85-4C8E-A75C-D0ABB0B4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docs/architecture.md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F32D10-9615-45DD-B36B-1AFEA1D2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04</a:t>
            </a:r>
          </a:p>
        </p:txBody>
      </p:sp>
    </p:spTree>
    <p:extLst>
      <p:ext uri="{BB962C8B-B14F-4D97-AF65-F5344CB8AC3E}">
        <p14:creationId xmlns:p14="http://schemas.microsoft.com/office/powerpoint/2010/main" val="18607935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6A28A-0693-4586-848B-1DC72F12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E1E57C-BE99-467C-A179-6FBA3E6ED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Firebase capabilities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BDBBB-D1A4-496B-9A85-13A83032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EF863-F3FD-4CA5-8E76-6088465F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Client integrations are authored; live project setup and evidence remain open.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3245E-9C1C-4AB5-BD2B-6B24D0F1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Authentication: email/password and Google sign-in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Cloud Firestore: tutor catalog, parent data, chat and workflow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Firebase AI Logic: matching with response validation and fallback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Storage/PDF and FCM notification routing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Analytics, Crashlytics, Remote Config and App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DD81E-C1A6-4577-A01D-0F776B52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27071-3D71-42A2-8F94-B483BC51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lib/services/; firebase/; README.md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FB1AD-45A8-4B83-A91C-8E4D7E59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05</a:t>
            </a:r>
          </a:p>
        </p:txBody>
      </p:sp>
    </p:spTree>
    <p:extLst>
      <p:ext uri="{BB962C8B-B14F-4D97-AF65-F5344CB8AC3E}">
        <p14:creationId xmlns:p14="http://schemas.microsoft.com/office/powerpoint/2010/main" val="7783787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4D3B9-F545-4DE1-AFF0-26681E5D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A8975-0901-4431-A7FC-DA053284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58011-FF61-45E4-958E-F3FAA56FA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6CF17-3BB0-4F5C-A7BF-4B7185A8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The client can request or respond; it cannot assert trusted business outcomes.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44882-F1CE-4258-AD5B-423DE399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Staff/backend owns active tutor records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Parent/applicant roles cannot be created together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Responses require current, pending, unexpired proposals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Backend creates invoices and verifies real payment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Only backend publishes the official schedule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9AFA7-6BA6-4D15-9FA6-1AEE4390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17418-2AB1-43F5-8B86-184B81BC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firebase/firestore.rules; docs/architecture.md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96B0B-6AAF-476A-9E91-5FF755C3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06</a:t>
            </a:r>
          </a:p>
        </p:txBody>
      </p:sp>
    </p:spTree>
    <p:extLst>
      <p:ext uri="{BB962C8B-B14F-4D97-AF65-F5344CB8AC3E}">
        <p14:creationId xmlns:p14="http://schemas.microsoft.com/office/powerpoint/2010/main" val="6267818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83C83-3FFF-4A7F-8A0A-E5734CDE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D79-44F5-44D7-A925-E60F50F5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AI tutor matching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2AA39-8548-434F-A635-84748A22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CB1A2-4FD1-4C3A-B79B-A757EA9D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Recommendations must map back to the active catalog and remain explainable.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F2962-AC47-4150-BBE6-CEED84EE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Use non-identifying learning needs in the request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Validate response JSON and recommendation identifiers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Return only tutors present in the active Firestore catalog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Show clear no-match, configuration and network recovery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Offer manual search as a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4299C5-27F6-4854-8BD2-F86BD9D6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602DD-1157-4856-AC15-27532F75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lib/services/matching_service.dart; docs/test-plan.md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09A25-5437-444C-8C82-C45F291F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07</a:t>
            </a:r>
          </a:p>
        </p:txBody>
      </p:sp>
    </p:spTree>
    <p:extLst>
      <p:ext uri="{BB962C8B-B14F-4D97-AF65-F5344CB8AC3E}">
        <p14:creationId xmlns:p14="http://schemas.microsoft.com/office/powerpoint/2010/main" val="13541375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B16EC-8182-4FE3-B246-BACCC4C7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3D83D-A7CB-4BB8-9E3A-BAE152EB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Analytics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C40B5-2967-4409-B94D-85ED0B7D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2A67F8-1F0E-487D-BD0F-05DC51D6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Measure product questions while keeping personal and free-text data out of events.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4AC0AB-B213-4B33-A08D-79A36D10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Search: query length, filters, sort, result count and outcome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Tutor detail: selected tutor ID and entry source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AI match: result count and success/no-result outcome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Connection and export: action, format and outcome</a:t>
            </a:r>
          </a:p>
          <a:p xmlns:a="http://schemas.openxmlformats.org/drawingml/2006/main">
            <a:pPr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Firebase UID is set after sign-in and cleared on sign-out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5152B8-569A-4395-A245-DCEA74C13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3A351F-BAF7-4F45-99B5-683450A1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docs/analytics-plan.md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380FF-D4B4-45AC-AE2F-DA59FD9C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08</a:t>
            </a:r>
          </a:p>
        </p:txBody>
      </p:sp>
    </p:spTree>
    <p:extLst>
      <p:ext uri="{BB962C8B-B14F-4D97-AF65-F5344CB8AC3E}">
        <p14:creationId xmlns:p14="http://schemas.microsoft.com/office/powerpoint/2010/main" val="1214598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59839-54C5-44F0-B561-9A7D663B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244C2-A732-4513-9D5F-E22C5FC2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ARTEMIS coverage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D510A0-3BDC-4CCA-A889-6C34AF96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17033-CA0F-488E-9A6E-2C2E0BCD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26 cases collected: 25 Flash regressions and one Pro exploration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ED3C9-564D-4CF9-BD94-54AD2EFA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TC-01 to TC-06: discovery, search and AI matching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TC-07 to TC-17: account and Firebase flows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TC-18 to TC-24: connection and trusted workflow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21 automatic Flash cases x3; TC-10/14/15/26 manual x3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TC-25: separate Pro session; no mobile case executed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630C9-A7A8-4046-AAEB-0EED07D6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96ED0-518A-4171-B19E-BEB12E43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e2e_test/; docs/test-plan.md | Collection is not an E2E pass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0EF6E-BFF1-409D-9082-19228766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09</a:t>
            </a:r>
          </a:p>
        </p:txBody>
      </p:sp>
    </p:spTree>
    <p:extLst>
      <p:ext uri="{BB962C8B-B14F-4D97-AF65-F5344CB8AC3E}">
        <p14:creationId xmlns:p14="http://schemas.microsoft.com/office/powerpoint/2010/main" val="3527447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18539D-D7DB-4A68-8053-7FC5612E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7AFD9-175F-4C2F-AE20-2C98E7A4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Validation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C5A66-819E-4D48-A37E-AC31DD95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905E1-FF8D-4E4A-AE8D-684D882D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Local checks pass; Android runtime remains unverified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6318CA-EA1B-4465-B924-72D54AA6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Flutter 3.47.8 / Dart 3.13.7 / portable JDK 21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Formatter and analyzer clean; 8 Flutter tests pass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26 real Firestore/Storage emulator tests pass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26 ARTEMIS cases collect; npm audit: zero findings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CI debug APK builds; device runtime still NOT 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9AA06-BFE8-4BC3-965F-3263C55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2BE6B-8697-4CDF-B4E8-7F8916C4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2026-10-30 | evidence/corrective/ | No runtime screenshots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D0C86-BAF6-410E-B765-21543EFA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10</a:t>
            </a:r>
          </a:p>
        </p:txBody>
      </p:sp>
    </p:spTree>
    <p:extLst>
      <p:ext uri="{BB962C8B-B14F-4D97-AF65-F5344CB8AC3E}">
        <p14:creationId xmlns:p14="http://schemas.microsoft.com/office/powerpoint/2010/main" val="12819497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88B73F-A4EB-4EFC-B5A5-6CA0137E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DC9CA-DC58-4F56-A4F0-5028EF73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AI code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8B33F5-AF57-4D53-9578-7AA7A01A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EC6F0-1267-4CDD-8327-A346A9A41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Corrective findings have commit and regression-test traceability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BCD03-A52B-4E4A-BA23-F7957BE5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P1 inbox UID/recipient isolation: da73da3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P2 interrupted registration recovery: 1bc63f6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Proposal ownership/current-state rules: b8f97c4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Atomic role/link isolation and 26 emulator tests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CI and honest E2E evidence states: 114d682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F47A4-5F26-44C6-9F9E-41AFF8C5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CB361-7B39-4AFC-A828-627638B3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Internal Codex review | EXTERNAL_REVIEW_NOT_AVAILABLE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BBF25-E3A7-4F6D-81AD-22908CD1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11</a:t>
            </a:r>
          </a:p>
        </p:txBody>
      </p:sp>
    </p:spTree>
    <p:extLst>
      <p:ext uri="{BB962C8B-B14F-4D97-AF65-F5344CB8AC3E}">
        <p14:creationId xmlns:p14="http://schemas.microsoft.com/office/powerpoint/2010/main" val="4346602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1380CB-223C-4D7B-9E7A-D92746AA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E22276-A116-4443-BB9B-3C4642BD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Evidence still required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7D58F-3170-468F-89B0-549F0E1C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421E5-DC77-4314-8EA9-30EB0DCE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This deck is a review draft, not a claim of a completed live demonstration.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EE335-6531-4694-B6FB-AAE46781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APK runtime and authentic 360dp/412dp captures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Authorized Firebase test resources and provider setup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Trusted consultant, invoice and payment backend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ARTEMIS host/key, device and original reviewed traces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Live FCM/OS isolation, console evidence and human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3AFD8-ABB3-42B8-8504-C1086C03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C86FB-4B1C-412F-A6AD-9EC5FB84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docs/lab3-report.md; docs/test-plan.md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B6071-29BC-49E8-9894-2CFE4A12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12</a:t>
            </a:r>
          </a:p>
        </p:txBody>
      </p:sp>
    </p:spTree>
    <p:extLst>
      <p:ext uri="{BB962C8B-B14F-4D97-AF65-F5344CB8AC3E}">
        <p14:creationId xmlns:p14="http://schemas.microsoft.com/office/powerpoint/2010/main" val="3164284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61353-EA10-4E7C-979F-50CD7DBB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C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73826E-CD6D-4777-B732-84B2CC0E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"/>
            <a:ext cx="10715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225" b="1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4213D"/>
                </a:solidFill>
                <a:latin typeface="Arial"/>
                <a:ea typeface="Arial"/>
                <a:cs typeface="Arial"/>
              </a:rPr>
              <a:t>Next steps to close Lab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E838A-4A81-4236-8C2B-95886DA2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1047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8AD358-95DC-47FC-91EE-49E621AE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1062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52627A"/>
                </a:solidFill>
                <a:latin typeface="Arial"/>
                <a:ea typeface="Arial"/>
                <a:cs typeface="Arial"/>
              </a:rPr>
              <a:t>Complete external setup, then replace every pending row with captured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66BF6-C392-4F37-A31E-AF8618BC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1047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01   Reproduce checks using D-drive portable tooling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02   Install CI-built APK on an authorized test device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03   Supply approved Firebase/backend staging fixtures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04   Run Flash repeats, manual cases and Pro exploration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4213D"/>
                </a:solidFill>
                <a:latin typeface="Arial"/>
                <a:ea typeface="Arial"/>
                <a:cs typeface="Arial"/>
              </a:rPr>
              <a:t>05   Review traces, complete demo and retain honest gaps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DF1D7-C9C2-42DD-B388-28C9A15D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007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A4550-6F58-4168-B889-ECDC892A7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53175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l"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>
                <a:solidFill>
                  <a:srgbClr val="52627A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52627A"/>
                </a:solidFill>
                <a:latin typeface="Arial"/>
                <a:ea typeface="Arial"/>
                <a:cs typeface="Arial"/>
              </a:rPr>
              <a:t>docs/lab3-report.md; docs/demo-script.md | Corrective branch pushed; do not merge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CE7DD-9BA4-4FF2-BA7E-9FFA498D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53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>
            <a:defPPr algn="r"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1125" b="1">
                <a:solidFill>
                  <a:srgbClr val="162CD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62CD4"/>
                </a:solidFill>
                <a:latin typeface="Arial"/>
                <a:ea typeface="Arial"/>
                <a:cs typeface="Arial"/>
              </a:rPr>
              <a:t>DRAFT  |  13</a:t>
            </a:r>
          </a:p>
        </p:txBody>
      </p:sp>
    </p:spTree>
    <p:extLst>
      <p:ext uri="{BB962C8B-B14F-4D97-AF65-F5344CB8AC3E}">
        <p14:creationId xmlns:p14="http://schemas.microsoft.com/office/powerpoint/2010/main" val="3342815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2026-10-30T07:01:23.2280000Z</dcterms:created>
  <dcterms:modified xsi:type="dcterms:W3CDTF">2026-10-30T07:01:23.2280000Z</dcterms:modified>
</coreProperties>
</file>